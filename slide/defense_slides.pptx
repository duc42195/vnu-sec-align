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4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40"/>
                </a:solidFill>
                <a:latin typeface="Arial"/>
              </a:rPr>
              <a:t>Training Samples by Source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1A3A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3A6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80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PKU-SafeRLHF (EN)</c:v>
                  </c:pt>
                  <c:pt idx="1">
                    <c:v>ViHOS (VI)</c:v>
                  </c:pt>
                  <c:pt idx="2">
                    <c:v>ViHSD (VI)</c:v>
                  </c:pt>
                  <c:pt idx="3">
                    <c:v>Novel Attack (EN)</c:v>
                  </c:pt>
                  <c:pt idx="4">
                    <c:v>Synthetic Halluc. (VI)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10813</c:v>
                </c:pt>
                <c:pt idx="1">
                  <c:v>8844</c:v>
                </c:pt>
                <c:pt idx="2">
                  <c:v>4162</c:v>
                </c:pt>
                <c:pt idx="3">
                  <c:v>2000</c:v>
                </c:pt>
                <c:pt idx="4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4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1B40"/>
                </a:solidFill>
                <a:latin typeface="Arial"/>
              </a:rPr>
              <a:t>Language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Language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bubble3D val="0"/>
            <c:spPr>
              <a:solidFill>
                <a:srgbClr val="1A3A6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Vietnamese 52.2%</c:v>
                </c:pt>
                <c:pt idx="1">
                  <c:v>English 47.8%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52.2</c:v>
                </c:pt>
                <c:pt idx="1">
                  <c:v>47.8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4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1B40"/>
                </a:solidFill>
                <a:latin typeface="Arial"/>
              </a:rPr>
              <a:t>Average Attack Success Rate (ASR %)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ASR % ↓ (lower=better)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8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C65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Llama-Base
(Undefended)</c:v>
                  </c:pt>
                  <c:pt idx="1">
                    <c:v>SeaLLM-7B-v2.5</c:v>
                  </c:pt>
                  <c:pt idx="2">
                    <c:v>Fine-tuned (Ours)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91.75</c:v>
                </c:pt>
                <c:pt idx="1">
                  <c:v>85</c:v>
                </c:pt>
                <c:pt idx="2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4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D1B40"/>
                </a:solidFill>
                <a:latin typeface="Arial"/>
              </a:rPr>
              <a:t>Attack Success Rate (%)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Llama-Base (↓ better)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Multi-Turn</c:v>
                  </c:pt>
                  <c:pt idx="1">
                    <c:v>Encoding
Chain</c:v>
                  </c:pt>
                  <c:pt idx="2">
                    <c:v>Cross-Lingual</c:v>
                  </c:pt>
                  <c:pt idx="3">
                    <c:v>Semantic</c:v>
                  </c:pt>
                  <c:pt idx="4">
                    <c:v>Ctx Overflow</c:v>
                  </c:pt>
                  <c:pt idx="5">
                    <c:v>Homoglyph</c:v>
                  </c:pt>
                  <c:pt idx="6">
                    <c:v>Payload Split</c:v>
                  </c:pt>
                  <c:pt idx="7">
                    <c:v>Conditional</c:v>
                  </c:pt>
                  <c:pt idx="8">
                    <c:v>Base64</c:v>
                  </c:pt>
                  <c:pt idx="9">
                    <c:v>Leetspeak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95</c:v>
                </c:pt>
                <c:pt idx="1">
                  <c:v>100</c:v>
                </c:pt>
                <c:pt idx="2">
                  <c:v>63.5</c:v>
                </c:pt>
                <c:pt idx="3">
                  <c:v>83</c:v>
                </c:pt>
                <c:pt idx="4">
                  <c:v>94</c:v>
                </c:pt>
                <c:pt idx="5">
                  <c:v>96.5</c:v>
                </c:pt>
                <c:pt idx="6">
                  <c:v>99.5</c:v>
                </c:pt>
                <c:pt idx="7">
                  <c:v>90.5</c:v>
                </c:pt>
                <c:pt idx="8">
                  <c:v>100</c:v>
                </c:pt>
                <c:pt idx="9">
                  <c:v>95.5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SeaLLM-7B</c:v>
                </c:pt>
              </c:strCache>
            </c:strRef>
          </c:tx>
          <c:spPr>
            <a:solidFill>
              <a:srgbClr val="DC8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Multi-Turn</c:v>
                  </c:pt>
                  <c:pt idx="1">
                    <c:v>Encoding
Chain</c:v>
                  </c:pt>
                  <c:pt idx="2">
                    <c:v>Cross-Lingual</c:v>
                  </c:pt>
                  <c:pt idx="3">
                    <c:v>Semantic</c:v>
                  </c:pt>
                  <c:pt idx="4">
                    <c:v>Ctx Overflow</c:v>
                  </c:pt>
                  <c:pt idx="5">
                    <c:v>Homoglyph</c:v>
                  </c:pt>
                  <c:pt idx="6">
                    <c:v>Payload Split</c:v>
                  </c:pt>
                  <c:pt idx="7">
                    <c:v>Conditional</c:v>
                  </c:pt>
                  <c:pt idx="8">
                    <c:v>Base64</c:v>
                  </c:pt>
                  <c:pt idx="9">
                    <c:v>Leetspeak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97.5</c:v>
                </c:pt>
                <c:pt idx="1">
                  <c:v>100</c:v>
                </c:pt>
                <c:pt idx="2">
                  <c:v>54.5</c:v>
                </c:pt>
                <c:pt idx="3">
                  <c:v>85.5</c:v>
                </c:pt>
                <c:pt idx="4">
                  <c:v>69.5</c:v>
                </c:pt>
                <c:pt idx="5">
                  <c:v>76.5</c:v>
                </c:pt>
                <c:pt idx="6">
                  <c:v>99</c:v>
                </c:pt>
                <c:pt idx="7">
                  <c:v>82</c:v>
                </c:pt>
                <c:pt idx="8">
                  <c:v>100</c:v>
                </c:pt>
                <c:pt idx="9">
                  <c:v>85.5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Fine-tuned (Ours)</c:v>
                </c:pt>
              </c:strCache>
            </c:strRef>
          </c:tx>
          <c:spPr>
            <a:solidFill>
              <a:srgbClr val="2DC6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Multi-Turn</c:v>
                  </c:pt>
                  <c:pt idx="1">
                    <c:v>Encoding
Chain</c:v>
                  </c:pt>
                  <c:pt idx="2">
                    <c:v>Cross-Lingual</c:v>
                  </c:pt>
                  <c:pt idx="3">
                    <c:v>Semantic</c:v>
                  </c:pt>
                  <c:pt idx="4">
                    <c:v>Ctx Overflow</c:v>
                  </c:pt>
                  <c:pt idx="5">
                    <c:v>Homoglyph</c:v>
                  </c:pt>
                  <c:pt idx="6">
                    <c:v>Payload Split</c:v>
                  </c:pt>
                  <c:pt idx="7">
                    <c:v>Conditional</c:v>
                  </c:pt>
                  <c:pt idx="8">
                    <c:v>Base64</c:v>
                  </c:pt>
                  <c:pt idx="9">
                    <c:v>Leetspeak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84.5</c:v>
                </c:pt>
                <c:pt idx="1">
                  <c:v>79.5</c:v>
                </c:pt>
                <c:pt idx="2">
                  <c:v>52</c:v>
                </c:pt>
                <c:pt idx="3">
                  <c:v>49</c:v>
                </c:pt>
                <c:pt idx="4">
                  <c:v>63.5</c:v>
                </c:pt>
                <c:pt idx="5">
                  <c:v>77</c:v>
                </c:pt>
                <c:pt idx="6">
                  <c:v>88</c:v>
                </c:pt>
                <c:pt idx="7">
                  <c:v>68</c:v>
                </c:pt>
                <c:pt idx="8">
                  <c:v>100</c:v>
                </c:pt>
                <c:pt idx="9">
                  <c:v>78.5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Vietnam National University, Hanoi — International School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49808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Self-Aware LLMs Against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via Preference Optimization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20116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443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Research Code: 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CN.NC.SV.25_08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Team: </a:t>
            </a:r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Đỗ Xuân Minh Đức · Phạm Anh Tuấn · Hoàng Minh Quang · Trần Khánh Huyền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Advisors: </a:t>
            </a:r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Dr. Kim Đình Thái  ·  Dr. Mai Đức Thọ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April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4462272"/>
            <a:ext cx="1481328" cy="301752"/>
          </a:xfrm>
          <a:prstGeom prst="rect">
            <a:avLst/>
          </a:prstGeom>
          <a:solidFill>
            <a:srgbClr val="1A3A6C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462272"/>
            <a:ext cx="14813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LLM Security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76856" y="4462272"/>
            <a:ext cx="1481328" cy="301752"/>
          </a:xfrm>
          <a:prstGeom prst="rect">
            <a:avLst/>
          </a:prstGeom>
          <a:solidFill>
            <a:srgbClr val="1A3A6C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76856" y="4462272"/>
            <a:ext cx="14813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Preference Optimization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67912" y="4462272"/>
            <a:ext cx="1481328" cy="301752"/>
          </a:xfrm>
          <a:prstGeom prst="rect">
            <a:avLst/>
          </a:prstGeom>
          <a:solidFill>
            <a:srgbClr val="1A3A6C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7912" y="4462272"/>
            <a:ext cx="14813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Vietnamese NLP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58968" y="4462272"/>
            <a:ext cx="1481328" cy="301752"/>
          </a:xfrm>
          <a:prstGeom prst="rect">
            <a:avLst/>
          </a:prstGeom>
          <a:solidFill>
            <a:srgbClr val="1A3A6C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58968" y="4462272"/>
            <a:ext cx="14813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Prompt Injection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463040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27432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MOTIVATION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 The Threat Is Real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353312"/>
            <a:ext cx="1920240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426464"/>
            <a:ext cx="192024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" y="2016252"/>
            <a:ext cx="19202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OWASP Top 10 Risk for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LLM Applications 2025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95728" y="1353312"/>
            <a:ext cx="1920240" cy="11430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95728" y="1426464"/>
            <a:ext cx="192024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395728" y="2016252"/>
            <a:ext cx="19202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Baseline ASR 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undefended Llama-3.1-8B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43984" y="1353312"/>
            <a:ext cx="1920240" cy="11430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43984" y="1426464"/>
            <a:ext cx="192024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443984" y="2016252"/>
            <a:ext cx="19202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Open-source VI defenses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before this study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697480"/>
            <a:ext cx="41148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7614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</a:rPr>
              <a:t>What is Prompt Injection?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1546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LLMs process all inputs — system prompts, user queries, and external data — as indistinguishable token sequences.
</a:t>
            </a:r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An adversary who controls retrieved data (e.g., a webpage, API response, document) can embed malicious instructions that override legitimate user commands — without touching the system prompt.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353312"/>
            <a:ext cx="4160520" cy="3566160"/>
          </a:xfrm>
          <a:prstGeom prst="rect">
            <a:avLst/>
          </a:prstGeom>
          <a:solidFill>
            <a:srgbClr val="0D1B40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353312"/>
            <a:ext cx="4160520" cy="3566160"/>
          </a:xfrm>
          <a:prstGeom prst="rect">
            <a:avLst/>
          </a:prstGeom>
          <a:solidFill>
            <a:srgbClr val="0D1B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2606040"/>
            <a:ext cx="731520" cy="7315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2606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▶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54880" y="45720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[ VIDEO: Prompt Injection Demo ]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Insert video here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C43D"/>
          </a:solidFill>
          <a:ln w="12700">
            <a:solidFill>
              <a:srgbClr val="FFC4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2971800" cy="292608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27432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RESEARCH GAP → OBJECTIVES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— and How We Address It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417320"/>
            <a:ext cx="269748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173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GAP 1-3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1764792"/>
            <a:ext cx="2697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81051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0"/>
                </a:solidFill>
              </a:rPr>
              <a:t>No Vietnamese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1B40"/>
                </a:solidFill>
              </a:rPr>
              <a:t>Defense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17627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All model-level defenses (StruQ, SecAlign, SecAlign++) trained &amp; validated on English only. Zero Vietnamese coverage.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697480" cy="347472"/>
          </a:xfrm>
          <a:prstGeom prst="rect">
            <a:avLst/>
          </a:prstGeom>
          <a:solidFill>
            <a:srgbClr val="FFC43D"/>
          </a:solidFill>
          <a:ln w="12700">
            <a:solidFill>
              <a:srgbClr val="FFC4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173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GAP 4-7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764792"/>
            <a:ext cx="2697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181051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0"/>
                </a:solidFill>
              </a:rPr>
              <a:t>Incomplete Attack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1B40"/>
                </a:solidFill>
              </a:rPr>
              <a:t>Coverage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91840" y="217627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Encoding obfuscation (Base64, ROT13), multi-turn escalation, Unicode homoglyphs, semantic injection — all absent from SecAlign++.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53328" y="1417320"/>
            <a:ext cx="26974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3328" y="14173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GAP 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53328" y="1764792"/>
            <a:ext cx="2697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44768" y="181051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0"/>
                </a:solidFill>
              </a:rPr>
              <a:t>No Cross-Lingual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D1B40"/>
                </a:solidFill>
              </a:rPr>
              <a:t>Evidence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44768" y="2176272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No empirical study on whether DPO security policies transfer across languages — a critical open question for multilingual deployment.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2862072"/>
            <a:ext cx="8449056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926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0"/>
                </a:solidFill>
              </a:rPr>
              <a:t>↓  Our 4 Contributions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3337560"/>
            <a:ext cx="2011680" cy="3200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3657600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0624" y="370332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Bilingual Dataset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0624" y="4005072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26,819 VI+EN samples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(52.2% Vietnamese)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14600" y="3337560"/>
            <a:ext cx="2011680" cy="32004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14600" y="3657600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587752" y="370332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Fine-tuned Model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87752" y="4005072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Llama-3.1-8B + DPO+RPO+cDPO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ASR 91.75%→74.00%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81728" y="3337560"/>
            <a:ext cx="2011680" cy="3200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81728" y="3657600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54880" y="370332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OWASP Mapping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4005072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LLM01–LLM08 taxonomy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+ benchmark suite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48856" y="3337560"/>
            <a:ext cx="201168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8856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48856" y="3657600"/>
            <a:ext cx="20116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922008" y="370332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</a:rPr>
              <a:t>Novel Attack Taxonomy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22008" y="4005072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10 new attack vectors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+ GPT-style recipe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2267712" cy="29260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27432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METHODOLOGY — DATA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C1: A First-of-Its-Kind Bilingual Preference Dataset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12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47472" y="1353312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1353312"/>
            <a:ext cx="32004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87568" y="1417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Dataset Design Principles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87568" y="17830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Vietnamese-dominant (52.2% VI)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687568" y="20574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DPO format: {prompt, chosen, rejected}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687568" y="23317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Attack diversity — 10 vector types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687568" y="26060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</a:rPr>
              <a:t>✓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2-phase training: 24,819 + 2,000 samples</a:t>
            </a:r>
            <a:endParaRPr lang="en-US" sz="95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5577840" y="3044952"/>
          <a:ext cx="3200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1"/>
          <p:cNvSpPr/>
          <p:nvPr/>
        </p:nvSpPr>
        <p:spPr>
          <a:xfrm>
            <a:off x="347472" y="4828032"/>
            <a:ext cx="8449056" cy="2011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7472" y="4828032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★  First open-source preference dataset designed specifically for Vietnamese prompt injection defense   |   Addresses GAP-01, GAP-02, GAP-03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3273552" cy="292608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27432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METHODOLOGY — MODEL TRAINING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C2: SecAlign++ Adaptation with DPO + RPO + cDPO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13533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Three-Layer Defense Architecture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783080"/>
            <a:ext cx="960120" cy="84124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82880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89888" y="1783080"/>
            <a:ext cx="3154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81328" y="182880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0"/>
                </a:solidFill>
              </a:rPr>
              <a:t>Recursive Filter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81328" y="2112264"/>
            <a:ext cx="2971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Strips delimiter tokens from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untrusted data — prevents escape attacks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2624328"/>
            <a:ext cx="109728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807208"/>
            <a:ext cx="960120" cy="841248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85292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89888" y="2807208"/>
            <a:ext cx="3154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81328" y="28529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0"/>
                </a:solidFill>
              </a:rPr>
              <a:t>Chat Template Role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81328" y="3136392"/>
            <a:ext cx="2971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Adds dedicated 'input' role;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establishes trust hierarchy: system &gt; user &gt; input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7240" y="3648456"/>
            <a:ext cx="109728" cy="1828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831336"/>
            <a:ext cx="960120" cy="84124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877056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 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89888" y="3831336"/>
            <a:ext cx="3154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481328" y="387705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40"/>
                </a:solidFill>
              </a:rPr>
              <a:t>DPO Fine-tuning + LoRA α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481328" y="4160520"/>
            <a:ext cx="2971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Embeds security policy in weights;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LoRA α (0→8) adjusts security↔utility at inference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1353312"/>
            <a:ext cx="4087368" cy="1874520"/>
          </a:xfrm>
          <a:prstGeom prst="rect">
            <a:avLst/>
          </a:prstGeom>
          <a:solidFill>
            <a:srgbClr val="0D1B40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28032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</a:rPr>
              <a:t>Training Objective (RPO + cDPO)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28032" y="18105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ℒ_RPO = ℒ_DPO + α_rpo · ℒ_SFT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222199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• ℒ_DPO: maximize log-prob margin (chosen vs. rejected)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• ℒ_SFT: supervised NLL on chosen — prevents forgetting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• cDPO label smoothing ε=0.1 — handles ambiguous pairs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• β=0.1 (KL constraint)  ·  α_rpo=0.5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337560"/>
            <a:ext cx="408736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28032" y="34015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</a:rPr>
              <a:t>LoRA Configuration &amp; Training Setup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28032" y="3730752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1B40"/>
                </a:solidFill>
              </a:rPr>
              <a:t>Base Model: 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6291072" y="3730752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Llama-3.1-8B-Instruct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4828032" y="38953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1B40"/>
                </a:solidFill>
              </a:rPr>
              <a:t>LoRA rank / α: 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6291072" y="389534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r=16  /  α=32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828032" y="4059936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1B40"/>
                </a:solidFill>
              </a:rPr>
              <a:t>Target modules: 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6291072" y="4059936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q_proj, v_proj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4828032" y="4224528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1B40"/>
                </a:solidFill>
              </a:rPr>
              <a:t>Hardware: 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6291072" y="422452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1× NVIDIA A100 (80 GB)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4828032" y="4389120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1B40"/>
                </a:solidFill>
              </a:rPr>
              <a:t>Training time: 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291072" y="438912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~52 min  (23 min primary)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4828032" y="4553712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1B40"/>
                </a:solidFill>
              </a:rPr>
              <a:t>Max seq length: 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6291072" y="4553712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384 tokens  (99.9% coverage)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347472" y="4828032"/>
            <a:ext cx="8449056" cy="2011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4828032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Migration: torchtune → HuggingFace TRL (resolved broadcast-shapes mismatch &amp; o_proj incompatibility)  |  All code released open-source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2871216" cy="29260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27432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METHODOLOGY — EVALUATION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Suite: Security, Utility &amp; Novel Attacks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353312"/>
            <a:ext cx="402336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353312"/>
            <a:ext cx="402336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533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🛡  Security Benchmarks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0"/>
                </a:solidFill>
              </a:rPr>
              <a:t>CyberSecEval 2: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55 indirect PI samples — GPT-4o judge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08483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0"/>
                </a:solidFill>
              </a:rPr>
              <a:t>InjecAgent BASE: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1,000 API-call samples + sandwich defense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0"/>
                </a:solidFill>
              </a:rPr>
              <a:t>InjecAgent ENHANCED: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Same + IMPORTANT!! Ignore... prefix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63347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0"/>
                </a:solidFill>
              </a:rPr>
              <a:t>Novel 10-Axis Suite: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2,000 samples × 10 novel attack vectors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90779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0"/>
                </a:solidFill>
              </a:rPr>
              <a:t>6 Non-Adaptive Attacks: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Straightforward, Ignore, Completion variants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18211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0"/>
                </a:solidFill>
              </a:rPr>
              <a:t>2 Adaptive Attacks: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Embedding-space fake delimiters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353312"/>
            <a:ext cx="4224528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353312"/>
            <a:ext cx="4224528" cy="384048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35331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Utility Benchmarks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81728" y="181051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0"/>
                </a:solidFill>
              </a:rPr>
              <a:t>MMLU 0-shot: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General knowledge — 57 subjects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81728" y="208483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0"/>
                </a:solidFill>
              </a:rPr>
              <a:t>MMLU-Pro: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Harder multi-task benchmark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81728" y="235915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0"/>
                </a:solidFill>
              </a:rPr>
              <a:t>GSM8K: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Mathematical reasoning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81728" y="263347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0"/>
                </a:solidFill>
              </a:rPr>
              <a:t>IFEval: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Instruction-following eval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1728" y="290779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0"/>
                </a:solidFill>
              </a:rPr>
              <a:t>BBH (3-shot):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Big-Bench Hard reasoning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81728" y="318211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0"/>
                </a:solidFill>
              </a:rPr>
              <a:t>FRR: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False Refusal Rate — over-refusal control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3611880"/>
            <a:ext cx="8449056" cy="1325880"/>
          </a:xfrm>
          <a:prstGeom prst="rect">
            <a:avLst/>
          </a:prstGeom>
          <a:solidFill>
            <a:srgbClr val="0D1B40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6758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Threat Model Scope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041648"/>
            <a:ext cx="8138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43D"/>
                </a:solidFill>
              </a:rPr>
              <a:t>Attacker: </a:t>
            </a:r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Controls external data environment (webpage, API, doc). Knows user prompt &amp; chat template. Cannot modify system prompt. Optimization-free (black-box) by default.  </a:t>
            </a:r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</a:rPr>
              <a:t>Excluded: </a:t>
            </a:r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Direct jailbreaks · multimodal attacks · multi-turn progressive injection (future work).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3273552" cy="29260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27432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RESULTS — SECURITY &amp; UTILITY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Gain With Near-Zero Utility Cost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 / 12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47472" y="1371600"/>
          <a:ext cx="42062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709160" y="1371600"/>
            <a:ext cx="182880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09160" y="1444752"/>
            <a:ext cx="18288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↓17.75pp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709160" y="1954987"/>
            <a:ext cx="182880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ASR Reduction vs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Baseline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656832" y="1371600"/>
            <a:ext cx="1901952" cy="100584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56832" y="1444752"/>
            <a:ext cx="1901952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−0.03pp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656832" y="1954987"/>
            <a:ext cx="1901952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MMLU Drop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(near-zero alignment tax!)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487168"/>
          <a:ext cx="4087368" cy="237744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978408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Llama-Base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SeaLLM-7B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Fine-tuned (Ours)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MMLU (↑)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68.27%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63.41%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C653"/>
                          </a:solidFill>
                        </a:rPr>
                        <a:t>68.24% 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GSM8K (↑)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70.89%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75.51%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72.02%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FRR (↓)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1.0%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0.6%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2.2%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EN_ASR (↓)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84.9%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75.4%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C653"/>
                          </a:solidFill>
                        </a:rPr>
                        <a:t>64.1% 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VN_ASR (↓)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98.6%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94.6%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C653"/>
                          </a:solidFill>
                        </a:rPr>
                        <a:t>83.9% 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AVG_ASR (↓)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63946"/>
                          </a:solidFill>
                        </a:rPr>
                        <a:t>91.75%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DC8000"/>
                          </a:solidFill>
                        </a:rPr>
                        <a:t>85.0%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C653"/>
                          </a:solidFill>
                        </a:rPr>
                        <a:t>74.00% ★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4709160" y="4846320"/>
            <a:ext cx="4087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[Insert Fig 3.1: Utility-Safety Pareto Frontier]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3776472" cy="2926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27432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RESULTS — GRANULAR ATTACK DEFENSE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10-Axis Adversarial Benchmark — Our Model Leads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/ 12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47472" y="1353312"/>
          <a:ext cx="55778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53328" y="1353312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72200" y="1417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Key Breakthroughs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53328" y="1874520"/>
            <a:ext cx="54864" cy="6400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1874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0"/>
                </a:solidFill>
              </a:rPr>
              <a:t>Semantic Injection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172200" y="21214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</a:rPr>
              <a:t>83.0% → 49.0%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72200" y="23134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Largest single-axis gain — hardest to detect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053328" y="2633472"/>
            <a:ext cx="54864" cy="6400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2633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0"/>
                </a:solidFill>
              </a:rPr>
              <a:t>Context Overflow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72200" y="28803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</a:rPr>
              <a:t>94.0% → 63.5%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72200" y="307238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30.5pp reduction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053328" y="3392424"/>
            <a:ext cx="54864" cy="6400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33924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0"/>
                </a:solidFill>
              </a:rPr>
              <a:t>Encoding Chain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36393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</a:rPr>
              <a:t>100% → 79.5%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72200" y="38313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20.5pp reduction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053328" y="4151376"/>
            <a:ext cx="54864" cy="640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41513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0"/>
                </a:solidFill>
              </a:rPr>
              <a:t>Base64 Obfuscation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172200" y="43982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100% → 100%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72200" y="45902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Remaining gap → future work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053328" y="4892040"/>
            <a:ext cx="2743200" cy="16459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53328" y="48920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[Insert Fig 3.3: 10-axis Radar Chart]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3172968" cy="29260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27432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RESULTS — DEMO &amp; ROBUSTNESS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Defense Verification + Adaptive Attack Resilience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353312"/>
            <a:ext cx="4663440" cy="3200400"/>
          </a:xfrm>
          <a:prstGeom prst="rect">
            <a:avLst/>
          </a:prstGeom>
          <a:solidFill>
            <a:srgbClr val="0D1B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67712" y="2560320"/>
            <a:ext cx="868680" cy="8686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67712" y="25603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▶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" y="43434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[ VIDEO: Live Model Comparison ]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3 Models — Undefended vs Defended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Insert video here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93792" y="1353312"/>
            <a:ext cx="3602736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93792" y="1353312"/>
            <a:ext cx="3602736" cy="3657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1353312"/>
            <a:ext cx="3419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Adaptive Attack Robustness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93792" y="1719072"/>
          <a:ext cx="3602736" cy="1417320"/>
        </p:xfrm>
        <a:graphic>
          <a:graphicData uri="http://schemas.openxmlformats.org/drawingml/2006/table">
            <a:tbl>
              <a:tblPr/>
              <a:tblGrid>
                <a:gridCol w="1280160"/>
                <a:gridCol w="749808"/>
                <a:gridCol w="822960"/>
                <a:gridCol w="749808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Static ASR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Adaptive ASR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Llama-Base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E63946"/>
                          </a:solidFill>
                        </a:rPr>
                        <a:t>91.75%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E63946"/>
                          </a:solidFill>
                        </a:rPr>
                        <a:t>98.5%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E63946"/>
                          </a:solidFill>
                        </a:rPr>
                        <a:t>-6.75pp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SeaLLM-7B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</a:rPr>
                        <a:t>85.0%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DC8000"/>
                          </a:solidFill>
                        </a:rPr>
                        <a:t>92.4%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DC8000"/>
                          </a:solidFill>
                        </a:rPr>
                        <a:t>-7.4pp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000000"/>
                          </a:solidFill>
                        </a:rPr>
                        <a:t>Fine-tuned (Ours)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2DC653"/>
                          </a:solidFill>
                        </a:rPr>
                        <a:t>74.0%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2DC653"/>
                          </a:solidFill>
                        </a:rPr>
                        <a:t>78.2%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2DC653"/>
                          </a:solidFill>
                        </a:rPr>
                        <a:t>-4.2pp ★</a:t>
                      </a:r>
                      <a:endParaRPr lang="en-US" sz="88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193792" y="3273552"/>
            <a:ext cx="3602736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193792" y="3273552"/>
            <a:ext cx="3602736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85232" y="3273552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Cross-Lingual Generalization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285232" y="36758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EN_ASR (↓)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931152" y="367588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</a:rPr>
              <a:t>84.9%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699248" y="367588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C653"/>
                </a:solidFill>
              </a:rPr>
              <a:t>64.1% ★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285232" y="405993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VN_ASR (↓)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931152" y="4059936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</a:rPr>
              <a:t>98.6%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699248" y="405993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C653"/>
                </a:solidFill>
              </a:rPr>
              <a:t>83.9% ★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285232" y="444398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Cross-Lingual Injection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31152" y="4443984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3946"/>
                </a:solidFill>
              </a:rPr>
              <a:t>63.5%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699248" y="444398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C653"/>
                </a:solidFill>
              </a:rPr>
              <a:t>52.0% ★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193792" y="4892040"/>
            <a:ext cx="3602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★ Security policy encoded at structural level — not language-specific lexical patterns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C43D"/>
          </a:solidFill>
          <a:ln w="12700">
            <a:solidFill>
              <a:srgbClr val="FFC4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2468880" cy="292608"/>
          </a:xfrm>
          <a:prstGeom prst="rect">
            <a:avLst/>
          </a:prstGeom>
          <a:solidFill>
            <a:srgbClr val="FFC43D"/>
          </a:solidFill>
          <a:ln w="12700">
            <a:solidFill>
              <a:srgbClr val="FFC4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27432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CONTRIBUTION C3 &amp; C4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Attack Taxonomy × OWASP Mapping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371600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371600"/>
            <a:ext cx="59436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37160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AV-01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05840" y="140817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0"/>
                </a:solidFill>
              </a:rPr>
              <a:t>Encoding Chain Obfuscation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17007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C653"/>
                </a:solidFill>
              </a:rPr>
              <a:t>GAP-04  |  Base→Ours: 100→79.5%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99432" y="1371600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371600"/>
            <a:ext cx="594360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37160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AV-02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57800" y="140817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0"/>
                </a:solidFill>
              </a:rPr>
              <a:t>Base64 Obfuscation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57800" y="170078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3946"/>
                </a:solidFill>
              </a:rPr>
              <a:t>GAP-04  |  Base→Ours: 100→100% ⚠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2121408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121408"/>
            <a:ext cx="59436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121408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AV-03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05840" y="21579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0"/>
                </a:solidFill>
              </a:rPr>
              <a:t>Leetspeak Substitution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05840" y="24505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C653"/>
                </a:solidFill>
              </a:rPr>
              <a:t>GAP-04  |  Base→Ours: 95.5→78.5%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99432" y="2121408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9432" y="2121408"/>
            <a:ext cx="59436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2121408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AV-04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57800" y="21579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0"/>
                </a:solidFill>
              </a:rPr>
              <a:t>Cross-Lingual Injection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57800" y="24505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C653"/>
                </a:solidFill>
              </a:rPr>
              <a:t>GAP-02  |  Base→Ours: 63.5→52%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7472" y="2871216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" y="2871216"/>
            <a:ext cx="59436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871216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AV-05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05840" y="29077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0"/>
                </a:solidFill>
              </a:rPr>
              <a:t>Keyword-free Semantic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05840" y="3200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C653"/>
                </a:solidFill>
              </a:rPr>
              <a:t>GAP-07  |  Base→Ours: 83→49%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99432" y="2871216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99432" y="2871216"/>
            <a:ext cx="59436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9432" y="2871216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AV-06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57800" y="29077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0"/>
                </a:solidFill>
              </a:rPr>
              <a:t>Conditional Logic Injection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257800" y="3200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C653"/>
                </a:solidFill>
              </a:rPr>
              <a:t>GAP-07  |  Base→Ours: 90.5→68%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7472" y="3621024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47472" y="3621024"/>
            <a:ext cx="59436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362102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AV-07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05840" y="3657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0"/>
                </a:solidFill>
              </a:rPr>
              <a:t>Context Overflow / Attn. Dilution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05840" y="39502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C653"/>
                </a:solidFill>
              </a:rPr>
              <a:t>GAP-06  |  Base→Ours: 94→63.5%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99432" y="3621024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99432" y="3621024"/>
            <a:ext cx="59436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99432" y="362102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AV-08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257800" y="3657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0"/>
                </a:solidFill>
              </a:rPr>
              <a:t>Unicode Homoglyph Delimiter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257800" y="39502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C653"/>
                </a:solidFill>
              </a:rPr>
              <a:t>GAP-04  |  Base→Ours: 96.5→77%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47472" y="4370832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47472" y="4370832"/>
            <a:ext cx="59436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4370832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AV-09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05840" y="4407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0"/>
                </a:solidFill>
              </a:rPr>
              <a:t>Payload Splitting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05840" y="47000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C653"/>
                </a:solidFill>
              </a:rPr>
              <a:t>GAP-05  |  Base→Ours: 99.5→88%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599432" y="4370832"/>
            <a:ext cx="4023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99432" y="4370832"/>
            <a:ext cx="594360" cy="6583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99432" y="4370832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AV-10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257800" y="4407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0"/>
                </a:solidFill>
              </a:rPr>
              <a:t>Multi-Turn Gradual Escalation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257800" y="47000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C653"/>
                </a:solidFill>
              </a:rPr>
              <a:t>GAP-05  |  Base→Ours: 95→84.5%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47472" y="4828032"/>
            <a:ext cx="8449056" cy="20116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" y="4828032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00B4D8"/>
                </a:solidFill>
              </a:rPr>
              <a:t>OWASP Mapping: Straightforward/Ignore PI → LLM01 Direct/Indirect  ·  Completion PI → LLM01 Sc.#6  ·  Adaptive/Obfuscated → LLM01 Sc.#8,#9  |  First OWASP-mapped VI defense baseline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463040" cy="29260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27432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DISCUSSION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47472" y="6217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Laws, DPO Mechanics &amp; Cross-Architecture Extension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353312"/>
            <a:ext cx="493776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353312"/>
            <a:ext cx="4937760" cy="3657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Paradox of Scaling — and Its Resolution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0"/>
                </a:solidFill>
              </a:rPr>
              <a:t>Stronger models are MORE vulnerable undefended: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Llama-3.1-8B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14600" y="20848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</a:rPr>
              <a:t>Undefended: 68.3%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13632" y="20848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</a:rPr>
              <a:t>Defended: ~0%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4323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Llama-3.1-70B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14600" y="24323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</a:rPr>
              <a:t>Undefended: 90.4%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913632" y="243230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</a:rPr>
              <a:t>Defended: ~0%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7797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Llama-3.3-70B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14600" y="27797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</a:rPr>
              <a:t>Undefended: 95.7%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913632" y="277977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</a:rPr>
              <a:t>Defended: ~0%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1363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475569"/>
                </a:solidFill>
              </a:rPr>
              <a:t>DPO creates a log-prob energy barrier between secure (y_w) and insecure (y_l) responses — larger models have higher capacity to internalize this barrier.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440680" y="1353312"/>
            <a:ext cx="3355848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40680" y="1353312"/>
            <a:ext cx="3355848" cy="36576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135331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GPT-Style Cross-Arch Adaptation (C4)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40680" y="186537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1810512"/>
            <a:ext cx="10241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1B40"/>
                </a:solidFill>
              </a:rPr>
              <a:t>Chat template: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687568" y="201168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Register 'input' role via Jinja at tokenizer level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40680" y="230428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2249424"/>
            <a:ext cx="10241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1B40"/>
                </a:solidFill>
              </a:rPr>
              <a:t>Recursive filter: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687568" y="245059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Remap delimiter vocab to ChatML tokens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40680" y="274320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2688336"/>
            <a:ext cx="10241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1B40"/>
                </a:solidFill>
              </a:rPr>
              <a:t>LoRA modules: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687568" y="288950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Identify c_attn/c_proj via named_modules()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318211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3127248"/>
            <a:ext cx="10241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D1B40"/>
                </a:solidFill>
              </a:rPr>
              <a:t>Untrusted role: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5687568" y="332841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Insert at structurally equivalent ChatML position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7472" y="3767328"/>
            <a:ext cx="84490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38221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</a:rPr>
              <a:t>Ablation Summary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142232"/>
            <a:ext cx="8229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0"/>
                </a:solidFill>
              </a:rPr>
              <a:t>Ablation A — RPO + cDPO vs Standard DPO: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Standard DPO lowers ASR but degrades MMLU. Adding RPO (α=0.5) + label smoothing (ε=0.1) preserves MMLU at 68.24%.
</a:t>
            </a:r>
            <a:pPr indent="0" marL="0">
              <a:buNone/>
            </a:pPr>
            <a:r>
              <a:rPr lang="en-US" sz="950" b="1" dirty="0">
                <a:solidFill>
                  <a:srgbClr val="0D1B40"/>
                </a:solidFill>
              </a:rPr>
              <a:t>Ablation B — Bilingual vs Monolingual data: 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Vietnamese preference pairs (ViHOS + ViHSD) stabilize DPO gradients and prevent linguistic shortcuts — critical for cross-lingual defense.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01168"/>
            <a:ext cx="14630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01168"/>
            <a:ext cx="27432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CONCLUSION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5029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 &amp; Takeaways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47472" y="1170432"/>
            <a:ext cx="2011680" cy="3200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704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1490472"/>
            <a:ext cx="2011680" cy="1024128"/>
          </a:xfrm>
          <a:prstGeom prst="rect">
            <a:avLst/>
          </a:prstGeom>
          <a:solidFill>
            <a:srgbClr val="1A2E5A"/>
          </a:solidFill>
          <a:ln w="1016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6C7"/>
                </a:solidFill>
              </a:rPr>
              <a:t>Bilingual Dataset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81051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8EDF5"/>
                </a:solidFill>
              </a:rPr>
              <a:t>26,819-sample VI+EN preference corpus (52.2% VI) — first of its kind for prompt injection defense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523744" y="1170432"/>
            <a:ext cx="201168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11704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23744" y="1490472"/>
            <a:ext cx="2011680" cy="1024128"/>
          </a:xfrm>
          <a:prstGeom prst="rect">
            <a:avLst/>
          </a:prstGeom>
          <a:solidFill>
            <a:srgbClr val="1A2E5A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Fine-tuned Model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15184" y="181051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8EDF5"/>
                </a:solidFill>
              </a:rPr>
              <a:t>ASR 91.75% → 74.00% · MMLU drop 0.03pp · Trained on 1× A100 in 52 min · All weights open-source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4700016" y="1170432"/>
            <a:ext cx="2011680" cy="32004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0016" y="11704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0016" y="1490472"/>
            <a:ext cx="2011680" cy="1024128"/>
          </a:xfrm>
          <a:prstGeom prst="rect">
            <a:avLst/>
          </a:prstGeom>
          <a:solidFill>
            <a:srgbClr val="1A2E5A"/>
          </a:solidFill>
          <a:ln w="10160">
            <a:solidFill>
              <a:srgbClr val="1A3A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91456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6C"/>
                </a:solidFill>
              </a:rPr>
              <a:t>OWASP Mapping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91456" y="181051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8EDF5"/>
                </a:solidFill>
              </a:rPr>
              <a:t>First standardized OWASP-mapped security baseline for Vietnamese AI · LLM01–LLM08 taxonomy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876288" y="1170432"/>
            <a:ext cx="2011680" cy="32004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11704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76288" y="1490472"/>
            <a:ext cx="2011680" cy="1024128"/>
          </a:xfrm>
          <a:prstGeom prst="rect">
            <a:avLst/>
          </a:prstGeom>
          <a:solidFill>
            <a:srgbClr val="1A2E5A"/>
          </a:solidFill>
          <a:ln w="10160">
            <a:solidFill>
              <a:srgbClr val="6A4C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67728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4C93"/>
                </a:solidFill>
              </a:rPr>
              <a:t>Novel Taxonomy + GPT Recipe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67728" y="181051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E8EDF5"/>
                </a:solidFill>
              </a:rPr>
              <a:t>10 new attack vectors empirically validated · Cross-architecture adaptation code released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347472" y="2670048"/>
            <a:ext cx="4206240" cy="1389888"/>
          </a:xfrm>
          <a:prstGeom prst="rect">
            <a:avLst/>
          </a:prstGeom>
          <a:solidFill>
            <a:srgbClr val="132238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" y="27340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43D"/>
                </a:solidFill>
              </a:rPr>
              <a:t>Limitations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" y="306324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C43D"/>
                </a:solidFill>
              </a:rPr>
              <a:t>⚠ </a:t>
            </a:r>
            <a:pPr indent="0" marL="0">
              <a:buNone/>
            </a:pPr>
            <a:r>
              <a:rPr lang="en-US" sz="880" dirty="0">
                <a:solidFill>
                  <a:srgbClr val="E8EDF5"/>
                </a:solidFill>
              </a:rPr>
              <a:t>Single-turn scope only — multi-turn progressive injection not yet addressed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75488" y="33832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C43D"/>
                </a:solidFill>
              </a:rPr>
              <a:t>⚠ </a:t>
            </a:r>
            <a:pPr indent="0" marL="0">
              <a:buNone/>
            </a:pPr>
            <a:r>
              <a:rPr lang="en-US" sz="880" dirty="0">
                <a:solidFill>
                  <a:srgbClr val="E8EDF5"/>
                </a:solidFill>
              </a:rPr>
              <a:t>Security benchmarks are English-based — Vietnamese test set needed for full validation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75488" y="370332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FC43D"/>
                </a:solidFill>
              </a:rPr>
              <a:t>⚠ </a:t>
            </a:r>
            <a:pPr indent="0" marL="0">
              <a:buNone/>
            </a:pPr>
            <a:r>
              <a:rPr lang="en-US" sz="880" dirty="0">
                <a:solidFill>
                  <a:srgbClr val="E8EDF5"/>
                </a:solidFill>
              </a:rPr>
              <a:t>384-token training limit — long-context generalization untested on VI-dominant corpus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709160" y="2670048"/>
            <a:ext cx="4087368" cy="1389888"/>
          </a:xfrm>
          <a:prstGeom prst="rect">
            <a:avLst/>
          </a:prstGeom>
          <a:solidFill>
            <a:srgbClr val="132238"/>
          </a:solidFill>
          <a:ln w="6350">
            <a:solidFill>
              <a:srgbClr val="D1D9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28032" y="27340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Future Directions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306324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B4D8"/>
                </a:solidFill>
              </a:rPr>
              <a:t>→ </a:t>
            </a:r>
            <a:pPr indent="0" marL="0">
              <a:buNone/>
            </a:pPr>
            <a:r>
              <a:rPr lang="en-US" sz="880" dirty="0">
                <a:solidFill>
                  <a:srgbClr val="E8EDF5"/>
                </a:solidFill>
              </a:rPr>
              <a:t>Multi-turn VI benchmark + DPO training (GAP-05)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828032" y="338328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B4D8"/>
                </a:solidFill>
              </a:rPr>
              <a:t>→ </a:t>
            </a:r>
            <a:pPr indent="0" marL="0">
              <a:buNone/>
            </a:pPr>
            <a:r>
              <a:rPr lang="en-US" sz="880" dirty="0">
                <a:solidFill>
                  <a:srgbClr val="E8EDF5"/>
                </a:solidFill>
              </a:rPr>
              <a:t>PhoGPT cross-model validation (VI-native base model)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4828032" y="370332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B4D8"/>
                </a:solidFill>
              </a:rPr>
              <a:t>→ </a:t>
            </a:r>
            <a:pPr indent="0" marL="0">
              <a:buNone/>
            </a:pPr>
            <a:r>
              <a:rPr lang="en-US" sz="880" dirty="0">
                <a:solidFill>
                  <a:srgbClr val="E8EDF5"/>
                </a:solidFill>
              </a:rPr>
              <a:t>Online RL (GRPO) for adaptive defense training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279392"/>
            <a:ext cx="8449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47472" y="4681728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40"/>
                </a:solidFill>
              </a:rPr>
              <a:t>Code &amp; Dataset: Released Open-Source   |   Project Code: CN.NC.SV.25_08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Self-Aware LLMs Against Prompt Injection via Preference Optimization</dc:title>
  <dc:subject>PptxGenJS Presentation</dc:subject>
  <dc:creator>PptxGenJS</dc:creator>
  <cp:lastModifiedBy>PptxGenJS</cp:lastModifiedBy>
  <cp:revision>1</cp:revision>
  <dcterms:created xsi:type="dcterms:W3CDTF">2026-04-14T08:31:25Z</dcterms:created>
  <dcterms:modified xsi:type="dcterms:W3CDTF">2026-04-14T08:31:25Z</dcterms:modified>
</cp:coreProperties>
</file>